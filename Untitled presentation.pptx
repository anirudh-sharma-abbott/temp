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6721ec21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6721ec21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6721ec21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6721ec21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6721ec21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6721ec21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6721ec213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6721ec21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6721ec21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6721ec21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6721ec21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56721ec21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6721ec21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56721ec21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6721ec21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56721ec21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arxiv.org/abs/2201.11903" TargetMode="External"/><Relationship Id="rId4" Type="http://schemas.openxmlformats.org/officeDocument/2006/relationships/hyperlink" Target="https://arxiv.org/abs/2201.11903" TargetMode="External"/><Relationship Id="rId5" Type="http://schemas.openxmlformats.org/officeDocument/2006/relationships/hyperlink" Target="https://arxiv.org/abs/2201.11903" TargetMode="External"/><Relationship Id="rId6" Type="http://schemas.openxmlformats.org/officeDocument/2006/relationships/hyperlink" Target="https://arxiv.org/abs/2210.03629" TargetMode="External"/><Relationship Id="rId7" Type="http://schemas.openxmlformats.org/officeDocument/2006/relationships/hyperlink" Target="https://arxiv.org/abs/2210.03629" TargetMode="External"/><Relationship Id="rId8" Type="http://schemas.openxmlformats.org/officeDocument/2006/relationships/hyperlink" Target="https://arxiv.org/abs/2210.03629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/>
              <a:t>Veeva AI Insights - Business Demo Pitch Slides</a:t>
            </a:r>
            <a:endParaRPr b="1" sz="11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By Anirudh Sharma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-GB" sz="1300"/>
              <a:t>Slide 1: 🙏 Thank You + Meeting Purpose</a:t>
            </a:r>
            <a:endParaRPr b="1" sz="13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Thank you, Dan, for taking the time.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Purpose: Showcase how AI can improve rep productivity, targeting, and HCP engagement.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We'll go through a live demo of 3 impactful tools designed for the Veeva CRM workflow.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-GB" sz="1300"/>
              <a:t>Slide 2: 🎯 Smart HCP Targeting</a:t>
            </a:r>
            <a:endParaRPr b="1" sz="13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Title</a:t>
            </a:r>
            <a:r>
              <a:rPr lang="en-GB" sz="1100">
                <a:solidFill>
                  <a:schemeClr val="dk1"/>
                </a:solidFill>
              </a:rPr>
              <a:t>: ML-Powered HCP Prioritization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Content</a:t>
            </a:r>
            <a:r>
              <a:rPr lang="en-GB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Challenge</a:t>
            </a:r>
            <a:r>
              <a:rPr lang="en-GB" sz="1100">
                <a:solidFill>
                  <a:schemeClr val="dk1"/>
                </a:solidFill>
              </a:rPr>
              <a:t>: Manual HCP prioritization lacks consistency.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Our Solution</a:t>
            </a:r>
            <a:r>
              <a:rPr lang="en-GB" sz="1100">
                <a:solidFill>
                  <a:schemeClr val="dk1"/>
                </a:solidFill>
              </a:rPr>
              <a:t>: ML ranks HCPs using TRx/NBRx history, last call, specialty, etc.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Features</a:t>
            </a:r>
            <a:r>
              <a:rPr lang="en-GB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Color-coded urgency (High/Medium/Low)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Conversion scoring with filters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Sort by specialty, territory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Value</a:t>
            </a:r>
            <a:r>
              <a:rPr lang="en-GB" sz="1100">
                <a:solidFill>
                  <a:schemeClr val="dk1"/>
                </a:solidFill>
              </a:rPr>
              <a:t>: Better-targeted calls, improved field efficiency.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-GB" sz="1300"/>
              <a:t>Slide 3: 🧠 Next Best Action Assistant</a:t>
            </a:r>
            <a:endParaRPr b="1" sz="13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Content</a:t>
            </a:r>
            <a:r>
              <a:rPr lang="en-GB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Challenge</a:t>
            </a:r>
            <a:r>
              <a:rPr lang="en-GB" sz="1100">
                <a:solidFill>
                  <a:schemeClr val="dk1"/>
                </a:solidFill>
              </a:rPr>
              <a:t>: Reps unsure of what action drives most impact.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Our Solution</a:t>
            </a:r>
            <a:r>
              <a:rPr lang="en-GB" sz="1100">
                <a:solidFill>
                  <a:schemeClr val="dk1"/>
                </a:solidFill>
              </a:rPr>
              <a:t>: AI assistant recommends timely actions (calls, samples, CLM).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Features</a:t>
            </a:r>
            <a:r>
              <a:rPr lang="en-GB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Personalized, data-driven suggestions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Based on trends, segments, recent activity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Value</a:t>
            </a:r>
            <a:r>
              <a:rPr lang="en-GB" sz="1100">
                <a:solidFill>
                  <a:schemeClr val="dk1"/>
                </a:solidFill>
              </a:rPr>
              <a:t>: Increased call productivity and HCP engagement.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/>
              <a:t>Slide 5: 📊 TRx/NBRx Forecasting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Title</a:t>
            </a:r>
            <a:r>
              <a:rPr lang="en-GB" sz="1100">
                <a:solidFill>
                  <a:schemeClr val="dk1"/>
                </a:solidFill>
              </a:rPr>
              <a:t>: Predictive HCP Trend Analysis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Content</a:t>
            </a:r>
            <a:r>
              <a:rPr lang="en-GB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Challenge</a:t>
            </a:r>
            <a:r>
              <a:rPr lang="en-GB" sz="1100">
                <a:solidFill>
                  <a:schemeClr val="dk1"/>
                </a:solidFill>
              </a:rPr>
              <a:t>: Reps lack visibility into future prescription trends.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Our Solution</a:t>
            </a:r>
            <a:r>
              <a:rPr lang="en-GB" sz="1100">
                <a:solidFill>
                  <a:schemeClr val="dk1"/>
                </a:solidFill>
              </a:rPr>
              <a:t>: Forecast upcoming TRx and NBRx using ARIMA/Prophet models.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Features</a:t>
            </a:r>
            <a:r>
              <a:rPr lang="en-GB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Trendline visualizations for each HCP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Interactive selection and filtering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Value</a:t>
            </a:r>
            <a:r>
              <a:rPr lang="en-GB" sz="1100">
                <a:solidFill>
                  <a:schemeClr val="dk1"/>
                </a:solidFill>
              </a:rPr>
              <a:t>: Supports proactive planning and resource allocation.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-GB" sz="1300"/>
              <a:t>Slide 4: 🚩 Geo-Routing Optimization</a:t>
            </a:r>
            <a:endParaRPr b="1" sz="13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Title</a:t>
            </a:r>
            <a:r>
              <a:rPr lang="en-GB" sz="1100">
                <a:solidFill>
                  <a:schemeClr val="dk1"/>
                </a:solidFill>
              </a:rPr>
              <a:t>: Intelligent Route Planning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Content</a:t>
            </a:r>
            <a:r>
              <a:rPr lang="en-GB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Challenge</a:t>
            </a:r>
            <a:r>
              <a:rPr lang="en-GB" sz="1100">
                <a:solidFill>
                  <a:schemeClr val="dk1"/>
                </a:solidFill>
              </a:rPr>
              <a:t>: Reps lose time traveling inefficiently.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Our Solution</a:t>
            </a:r>
            <a:r>
              <a:rPr lang="en-GB" sz="1100">
                <a:solidFill>
                  <a:schemeClr val="dk1"/>
                </a:solidFill>
              </a:rPr>
              <a:t>: Optimized HCP routes using urgency and clustering.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Features</a:t>
            </a:r>
            <a:r>
              <a:rPr lang="en-GB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Google Maps Distance Matrix API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Route maps sorted by urgency &amp; distance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Value</a:t>
            </a:r>
            <a:r>
              <a:rPr lang="en-GB" sz="1100">
                <a:solidFill>
                  <a:schemeClr val="dk1"/>
                </a:solidFill>
              </a:rPr>
              <a:t>: Saves hours/week, improves coverage.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/>
              <a:t>Slide 5: 📊 Business Impact + Next Steps</a:t>
            </a:r>
            <a:endParaRPr b="1" sz="1300"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Content</a:t>
            </a:r>
            <a:r>
              <a:rPr lang="en-GB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Modular, scalable tools built around real HCP workflows.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Tangible value: prioritization, action guidance, routing.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Optional: forecasting &amp; AI-powered requirement reviews.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Proposal</a:t>
            </a:r>
            <a:r>
              <a:rPr lang="en-GB" sz="1100">
                <a:solidFill>
                  <a:schemeClr val="dk1"/>
                </a:solidFill>
              </a:rPr>
              <a:t>: Identify a pilot team or territory for phased rollout.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-GB" sz="1100">
                <a:solidFill>
                  <a:schemeClr val="dk1"/>
                </a:solidFill>
              </a:rPr>
              <a:t>"Looking forward to your feedback on next steps."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you!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References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 Scientific References &amp; Documentation</a:t>
            </a:r>
            <a:endParaRPr b="1" sz="13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XGBoost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https://dl.acm.org/doi/10.1145/2939672.2939785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Chain-of-Thought Prompting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100" u="sng">
                <a:solidFill>
                  <a:schemeClr val="hlink"/>
                </a:solidFill>
                <a:hlinkClick r:id="rId4"/>
              </a:rPr>
              <a:t>https://arxiv.org/abs/2201.11903</a:t>
            </a:r>
            <a:br>
              <a:rPr lang="en-GB" sz="1100" u="sng">
                <a:solidFill>
                  <a:schemeClr val="hlink"/>
                </a:solidFill>
                <a:hlinkClick r:id="rId5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ReAct (Reasoning + Acting)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100" u="sng">
                <a:solidFill>
                  <a:schemeClr val="hlink"/>
                </a:solidFill>
                <a:hlinkClick r:id="rId7"/>
              </a:rPr>
              <a:t>https://arxiv.org/abs/2210.03629</a:t>
            </a:r>
            <a:br>
              <a:rPr lang="en-GB" sz="1100" u="sng">
                <a:solidFill>
                  <a:schemeClr val="hlink"/>
                </a:solidFill>
                <a:hlinkClick r:id="rId8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Prophet: Forecasting at Scale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https://doi.org/10.1016/j.ijforecast.2017.11.001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K-Means Clustering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https://projecteuclid.org/euclid.bsmsp/1200512992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Traveling Salesman Problem - Heuristic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https://www.cs.ubc.ca/~hutter/previous-earg/EmpAlgReadingGroup/TSP-JohMcg97.pdf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Google Distance Matrix API Documentation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https://developers.google.com/maps/documentation/distance-matrix/overview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